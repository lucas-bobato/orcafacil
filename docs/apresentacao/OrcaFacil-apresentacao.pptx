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 segundos. Nome provisório. Nossa proposta é um site para prestadores de serviços gerarem orçamentos profissionais. Imagem conceitual criada com IA, não representa um produto desenvolvido.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segundos. Problema observado pela equipe: alguns profissionais elaboram orçamentos à mão ou pelo WhatsApp. Precisamos validar a frequência e as consequências com usuários.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30 </a:t>
            </a:r>
            <a:r>
              <a:rPr dirty="0" err="1"/>
              <a:t>segundos</a:t>
            </a:r>
            <a:r>
              <a:rPr dirty="0"/>
              <a:t>. Público </a:t>
            </a:r>
            <a:r>
              <a:rPr dirty="0" err="1"/>
              <a:t>inicial</a:t>
            </a:r>
            <a:r>
              <a:rPr dirty="0"/>
              <a:t>: </a:t>
            </a:r>
            <a:r>
              <a:rPr dirty="0" err="1"/>
              <a:t>autônomos</a:t>
            </a:r>
            <a:r>
              <a:rPr dirty="0"/>
              <a:t> de </a:t>
            </a:r>
            <a:r>
              <a:rPr dirty="0" err="1"/>
              <a:t>construção</a:t>
            </a:r>
            <a:r>
              <a:rPr dirty="0"/>
              <a:t> e </a:t>
            </a:r>
            <a:r>
              <a:rPr dirty="0" err="1"/>
              <a:t>manutenção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fazem</a:t>
            </a:r>
            <a:r>
              <a:rPr dirty="0"/>
              <a:t> </a:t>
            </a:r>
            <a:r>
              <a:rPr dirty="0" err="1"/>
              <a:t>seus</a:t>
            </a:r>
            <a:r>
              <a:rPr dirty="0"/>
              <a:t> </a:t>
            </a:r>
            <a:r>
              <a:rPr dirty="0" err="1"/>
              <a:t>próprios</a:t>
            </a:r>
            <a:r>
              <a:rPr dirty="0"/>
              <a:t> </a:t>
            </a:r>
            <a:r>
              <a:rPr dirty="0" err="1"/>
              <a:t>orçamentos</a:t>
            </a:r>
            <a:r>
              <a:rPr dirty="0"/>
              <a:t>. A </a:t>
            </a:r>
            <a:r>
              <a:rPr dirty="0" err="1"/>
              <a:t>facilidade</a:t>
            </a:r>
            <a:r>
              <a:rPr dirty="0"/>
              <a:t> no </a:t>
            </a:r>
            <a:r>
              <a:rPr dirty="0" err="1"/>
              <a:t>celular</a:t>
            </a:r>
            <a:r>
              <a:rPr dirty="0"/>
              <a:t>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prioridade</a:t>
            </a:r>
            <a:r>
              <a:rPr dirty="0"/>
              <a:t> a </a:t>
            </a:r>
            <a:r>
              <a:rPr dirty="0" err="1"/>
              <a:t>testar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segundos. Começamos por um site adaptado ao celular. O profissional define preços e condições. A ferramenta calcula a partir dos dados e organiza o PDF. O usuário envia o arquivo pelo WhatsApp.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 segundos. Explicar os quatro passos. A revisão permite corrigir o escopo, valores e condições antes de gerar 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segundos. Exemplo fictício: nomes, valores e condições ilustrativos. O total é 200 + 600 = 800 reais. Mostrar que o documento apresenta o serviço e as condições, além do preço.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segundos. MVP é produto mínimo viável. A primeira versão foca na geração do orçamento. Login, histórico e aplicativo instalado podem vir depois, conforme a necessidade observada nos testes.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19750" y="1190625"/>
            <a:ext cx="6572250" cy="43815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290423D-1100-4DDA-B531-BAA55B49C2A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5715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0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OrçaFácil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4E8A662-92C3-4125-91AD-590A8D6133E3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53000" cy="2428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Seu trabalho merece</a:t>
            </a:r>
          </a:p>
          <a:p>
            <a:pPr>
              <a:defRPr sz="3600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um orçamento</a:t>
            </a:r>
          </a:p>
          <a:p>
            <a:pPr>
              <a:defRPr sz="3600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profissional.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9B3E729-A095-4E9F-9DB3-96FB500CB79B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5238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F9A5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9A53"/>
                </a:solidFill>
                <a:latin typeface="Arial"/>
                <a:ea typeface="Arial"/>
                <a:cs typeface="Arial"/>
              </a:rPr>
              <a:t>Uma proposta de MVP para</a:t>
            </a:r>
          </a:p>
          <a:p>
            <a:pPr>
              <a:defRPr sz="2025" b="0">
                <a:solidFill>
                  <a:srgbClr val="FF9A5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9A53"/>
                </a:solidFill>
                <a:latin typeface="Arial"/>
                <a:ea typeface="Arial"/>
                <a:cs typeface="Arial"/>
              </a:rPr>
              <a:t>prestadores de serviços</a:t>
            </a:r>
          </a:p>
        </p:txBody>
      </p:sp>
    </p:spTree>
    <p:extLst>
      <p:ext uri="{BB962C8B-B14F-4D97-AF65-F5344CB8AC3E}">
        <p14:creationId xmlns:p14="http://schemas.microsoft.com/office/powerpoint/2010/main" val="1168287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25B58BB2-6BE5-4A9F-A37A-27754961EFC8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37024E-03D2-4449-A1C0-211BB39D1F64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858500" cy="2333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O orçamento pode</a:t>
            </a:r>
          </a:p>
          <a:p>
            <a:pPr>
              <a:defRPr sz="480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não transmitir o cuidado</a:t>
            </a:r>
          </a:p>
          <a:p>
            <a:pPr>
              <a:defRPr sz="480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que existe no serviço.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CB07813-02E2-4EF8-BB88-94640A377608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Papel e mensagens no WhatsApp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A49B177-0FE0-4E10-87CE-DFAFF4D06941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763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Informações espalhadas e apresentação sem padrão</a:t>
            </a:r>
          </a:p>
          <a:p>
            <a:pPr>
              <a:defRPr sz="217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podem dificultar a compreensão do cliente.</a:t>
            </a:r>
          </a:p>
        </p:txBody>
      </p:sp>
    </p:spTree>
    <p:extLst>
      <p:ext uri="{BB962C8B-B14F-4D97-AF65-F5344CB8AC3E}">
        <p14:creationId xmlns:p14="http://schemas.microsoft.com/office/powerpoint/2010/main" val="2035262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A258984-8826-4CD9-8561-ED12B845642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Quem queremos ajudar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CEC38B5-389D-4157-B465-455E8507F58E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6477000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650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Quem trabalha</a:t>
            </a:r>
          </a:p>
          <a:p>
            <a:pPr>
              <a:defRPr sz="4650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por conta própria.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6F1753-F65E-4D6D-8945-FF6671407A2A}"/>
              </a:ext>
            </a:extLst>
          </p:cNvPr>
          <p:cNvSpPr>
            <a:spLocks noGrp="1"/>
          </p:cNvSpPr>
          <p:nvPr/>
        </p:nvSpPr>
        <p:spPr>
          <a:xfrm>
            <a:off x="7953375" y="2114550"/>
            <a:ext cx="3476625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Pintores</a:t>
            </a:r>
          </a:p>
          <a:p>
            <a:pPr>
              <a:defRPr sz="3225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Pedreiros</a:t>
            </a:r>
          </a:p>
          <a:p>
            <a:pPr>
              <a:defRPr sz="3225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Eletricistas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FCA26C3-EE6C-42F2-AC05-332CE73AC841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Uma ferramenta simples no celular para explicar</a:t>
            </a:r>
          </a:p>
          <a:p>
            <a:pPr>
              <a:defRPr sz="232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o serviço e apresentar o preço ao cliente.</a:t>
            </a:r>
          </a:p>
        </p:txBody>
      </p:sp>
    </p:spTree>
    <p:extLst>
      <p:ext uri="{BB962C8B-B14F-4D97-AF65-F5344CB8AC3E}">
        <p14:creationId xmlns:p14="http://schemas.microsoft.com/office/powerpoint/2010/main" val="1299294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14E6ADA-6B56-4D80-8C98-7355A167B0AA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572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FF9A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9A53"/>
                </a:solidFill>
                <a:latin typeface="Arial"/>
                <a:ea typeface="Arial"/>
                <a:cs typeface="Arial"/>
              </a:rPr>
              <a:t>A SOLUÇÃO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825934F-DAD1-4702-A08C-44524606C21B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10668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0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Dados do serviço.</a:t>
            </a:r>
          </a:p>
          <a:p>
            <a:pPr>
              <a:defRPr sz="6000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PDF profissional.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A67E75D-0E10-4807-A978-58FBC6A785F3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10668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AF6EE"/>
                </a:solidFill>
                <a:latin typeface="Arial"/>
                <a:ea typeface="Arial"/>
                <a:cs typeface="Arial"/>
              </a:rPr>
              <a:t>O profissional preenche os dados e os valores.</a:t>
            </a:r>
          </a:p>
          <a:p>
            <a:pPr>
              <a:defRPr sz="2475" b="0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AF6EE"/>
                </a:solidFill>
                <a:latin typeface="Arial"/>
                <a:ea typeface="Arial"/>
                <a:cs typeface="Arial"/>
              </a:rPr>
              <a:t>O site calcula o total e organiza o documento.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43EC6C8-472E-4957-BC29-6CC473EE333B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F9A5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9A53"/>
                </a:solidFill>
                <a:latin typeface="Arial"/>
                <a:ea typeface="Arial"/>
                <a:cs typeface="Arial"/>
              </a:rPr>
              <a:t>Pronto para baixar e enviar pelo WhatsApp.</a:t>
            </a:r>
          </a:p>
        </p:txBody>
      </p:sp>
    </p:spTree>
    <p:extLst>
      <p:ext uri="{BB962C8B-B14F-4D97-AF65-F5344CB8AC3E}">
        <p14:creationId xmlns:p14="http://schemas.microsoft.com/office/powerpoint/2010/main" val="958291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633B92B-DD80-40CA-9DB9-431560CFB12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Um fluxo simples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2F97C9B-DD7C-443D-B0CD-E66D99BB6FB9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2286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675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4E8E4E-19B4-47E5-9492-89971AA26621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Preencher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603995-6EC2-44D1-B53A-F99C45D05A6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2333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470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7078"/>
                </a:solidFill>
                <a:latin typeface="Arial"/>
                <a:ea typeface="Arial"/>
                <a:cs typeface="Arial"/>
              </a:rPr>
              <a:t>Profissional e cliente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8A3A2D-8CF1-4A30-BDDF-31C3CF9C1B9C}"/>
              </a:ext>
            </a:extLst>
          </p:cNvPr>
          <p:cNvSpPr>
            <a:spLocks noGrp="1"/>
          </p:cNvSpPr>
          <p:nvPr/>
        </p:nvSpPr>
        <p:spPr>
          <a:xfrm>
            <a:off x="3486150" y="2276475"/>
            <a:ext cx="2286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675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E9D711A-DAB0-473F-B7A9-456C49309083}"/>
              </a:ext>
            </a:extLst>
          </p:cNvPr>
          <p:cNvSpPr>
            <a:spLocks noGrp="1"/>
          </p:cNvSpPr>
          <p:nvPr/>
        </p:nvSpPr>
        <p:spPr>
          <a:xfrm>
            <a:off x="3486150" y="3790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Detalhar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D4960B7-C642-454B-B0BC-4358C13B400A}"/>
              </a:ext>
            </a:extLst>
          </p:cNvPr>
          <p:cNvSpPr>
            <a:spLocks noGrp="1"/>
          </p:cNvSpPr>
          <p:nvPr/>
        </p:nvSpPr>
        <p:spPr>
          <a:xfrm>
            <a:off x="3486150" y="4572000"/>
            <a:ext cx="2333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470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7078"/>
                </a:solidFill>
                <a:latin typeface="Arial"/>
                <a:ea typeface="Arial"/>
                <a:cs typeface="Arial"/>
              </a:rPr>
              <a:t>Serviços e valores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13E414-2191-4B6B-BB7C-DA922D94ACC1}"/>
              </a:ext>
            </a:extLst>
          </p:cNvPr>
          <p:cNvSpPr>
            <a:spLocks noGrp="1"/>
          </p:cNvSpPr>
          <p:nvPr/>
        </p:nvSpPr>
        <p:spPr>
          <a:xfrm>
            <a:off x="6362700" y="2276475"/>
            <a:ext cx="2286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675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3ED29BB-F269-4EA0-A1EE-E34A9460EE23}"/>
              </a:ext>
            </a:extLst>
          </p:cNvPr>
          <p:cNvSpPr>
            <a:spLocks noGrp="1"/>
          </p:cNvSpPr>
          <p:nvPr/>
        </p:nvSpPr>
        <p:spPr>
          <a:xfrm>
            <a:off x="6362700" y="3790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Revisar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B6471E0-9ABA-4FF0-ACB5-FC80639AB595}"/>
              </a:ext>
            </a:extLst>
          </p:cNvPr>
          <p:cNvSpPr>
            <a:spLocks noGrp="1"/>
          </p:cNvSpPr>
          <p:nvPr/>
        </p:nvSpPr>
        <p:spPr>
          <a:xfrm>
            <a:off x="6362700" y="4572000"/>
            <a:ext cx="2333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470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7078"/>
                </a:solidFill>
                <a:latin typeface="Arial"/>
                <a:ea typeface="Arial"/>
                <a:cs typeface="Arial"/>
              </a:rPr>
              <a:t>Total e condições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743F900-C672-4020-A0AB-C257B857078D}"/>
              </a:ext>
            </a:extLst>
          </p:cNvPr>
          <p:cNvSpPr>
            <a:spLocks noGrp="1"/>
          </p:cNvSpPr>
          <p:nvPr/>
        </p:nvSpPr>
        <p:spPr>
          <a:xfrm>
            <a:off x="9239250" y="2276475"/>
            <a:ext cx="2286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675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6675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BE2D430-C4B5-4349-B456-4641FFD75881}"/>
              </a:ext>
            </a:extLst>
          </p:cNvPr>
          <p:cNvSpPr>
            <a:spLocks noGrp="1"/>
          </p:cNvSpPr>
          <p:nvPr/>
        </p:nvSpPr>
        <p:spPr>
          <a:xfrm>
            <a:off x="9239250" y="3790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Gerar PDF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971EC32-3BCF-44F7-826E-8D98A0550A46}"/>
              </a:ext>
            </a:extLst>
          </p:cNvPr>
          <p:cNvSpPr>
            <a:spLocks noGrp="1"/>
          </p:cNvSpPr>
          <p:nvPr/>
        </p:nvSpPr>
        <p:spPr>
          <a:xfrm>
            <a:off x="9239250" y="4572000"/>
            <a:ext cx="23336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470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47078"/>
                </a:solidFill>
                <a:latin typeface="Arial"/>
                <a:ea typeface="Arial"/>
                <a:cs typeface="Arial"/>
              </a:rPr>
              <a:t>Baixar e enviar</a:t>
            </a:r>
          </a:p>
        </p:txBody>
      </p:sp>
    </p:spTree>
    <p:extLst>
      <p:ext uri="{BB962C8B-B14F-4D97-AF65-F5344CB8AC3E}">
        <p14:creationId xmlns:p14="http://schemas.microsoft.com/office/powerpoint/2010/main" val="138657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EE75468-EE14-4F0F-8593-35CF4A3A86B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5048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75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O resultado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73AF7D5-09D6-4DF0-AB90-318CB6EBBDE6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5334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Tudo o que o</a:t>
            </a:r>
          </a:p>
          <a:p>
            <a:pPr>
              <a:defRPr sz="4275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cliente precisa</a:t>
            </a:r>
          </a:p>
          <a:p>
            <a:pPr>
              <a:defRPr sz="4275" b="1">
                <a:solidFill>
                  <a:srgbClr val="FAF6EE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AF6EE"/>
                </a:solidFill>
                <a:latin typeface="Arial"/>
                <a:ea typeface="Arial"/>
                <a:cs typeface="Arial"/>
              </a:rPr>
              <a:t>entender.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FEFEFA-7159-4BE0-8D2E-6C9DAF847170}"/>
              </a:ext>
            </a:extLst>
          </p:cNvPr>
          <p:cNvSpPr>
            <a:spLocks noGrp="1"/>
          </p:cNvSpPr>
          <p:nvPr/>
        </p:nvSpPr>
        <p:spPr>
          <a:xfrm>
            <a:off x="609600" y="4752975"/>
            <a:ext cx="5143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FF9A5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9A53"/>
                </a:solidFill>
                <a:latin typeface="Arial"/>
                <a:ea typeface="Arial"/>
                <a:cs typeface="Arial"/>
              </a:rPr>
              <a:t>Serviço, preço, prazo</a:t>
            </a:r>
          </a:p>
          <a:p>
            <a:pPr>
              <a:defRPr sz="2250" b="0">
                <a:solidFill>
                  <a:srgbClr val="FF9A5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9A53"/>
                </a:solidFill>
                <a:latin typeface="Arial"/>
                <a:ea typeface="Arial"/>
                <a:cs typeface="Arial"/>
              </a:rPr>
              <a:t>e forma de pagamento.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656134-C6E2-4313-8A60-22378DA4FF69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90BD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0BDBD"/>
                </a:solidFill>
                <a:latin typeface="Arial"/>
                <a:ea typeface="Arial"/>
                <a:cs typeface="Arial"/>
              </a:rPr>
              <a:t>EXEMPLO FICTÍCIO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47CA663-64B4-4740-BC83-6DF11ADBFBB2}"/>
              </a:ext>
            </a:extLst>
          </p:cNvPr>
          <p:cNvSpPr>
            <a:spLocks noGrp="1"/>
          </p:cNvSpPr>
          <p:nvPr/>
        </p:nvSpPr>
        <p:spPr>
          <a:xfrm>
            <a:off x="6486525" y="523875"/>
            <a:ext cx="5029200" cy="55435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B5B112D-E4D8-46D0-AD5E-F54D48004D90}"/>
              </a:ext>
            </a:extLst>
          </p:cNvPr>
          <p:cNvSpPr>
            <a:spLocks noGrp="1"/>
          </p:cNvSpPr>
          <p:nvPr/>
        </p:nvSpPr>
        <p:spPr>
          <a:xfrm>
            <a:off x="6772275" y="762000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JOÃO PINTURAS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0FA9766-3A1B-441A-8A56-8652A1F5A223}"/>
              </a:ext>
            </a:extLst>
          </p:cNvPr>
          <p:cNvSpPr>
            <a:spLocks noGrp="1"/>
          </p:cNvSpPr>
          <p:nvPr/>
        </p:nvSpPr>
        <p:spPr>
          <a:xfrm>
            <a:off x="6772275" y="1323975"/>
            <a:ext cx="43815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Orçamento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43F96C-4303-44FE-8AF2-7753A24708D6}"/>
              </a:ext>
            </a:extLst>
          </p:cNvPr>
          <p:cNvSpPr>
            <a:spLocks noGrp="1"/>
          </p:cNvSpPr>
          <p:nvPr/>
        </p:nvSpPr>
        <p:spPr>
          <a:xfrm>
            <a:off x="6772275" y="2105025"/>
            <a:ext cx="4381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Cliente: Maria Silva</a:t>
            </a:r>
          </a:p>
          <a:p>
            <a:pPr>
              <a:defRPr sz="187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Serviço: pintura de um quarto</a:t>
            </a:r>
          </a:p>
        </p:txBody>
      </p:sp>
      <p:graphicFrame>
        <p:nvGraphicFramePr>
          <p:cNvPr id="24" name="Tabela 23"/>
          <p:cNvGraphicFramePr/>
          <p:nvPr/>
        </p:nvGraphicFramePr>
        <p:xfrm>
          <a:off x="6772275" y="3143250"/>
          <a:ext cx="4362450" cy="1314450"/>
        </p:xfrm>
        <a:graphic>
          <a:graphicData uri="http://schemas.openxmlformats.org/drawingml/2006/table">
            <a:tbl>
              <a:tblPr/>
              <a:tblGrid>
                <a:gridCol w="30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67E78"/>
                          </a:solidFill>
                          <a:latin typeface="Arial"/>
                          <a:ea typeface="Arial"/>
                          <a:cs typeface="Arial"/>
                        </a:rPr>
                        <a:t>Descrição</a:t>
                      </a:r>
                    </a:p>
                  </a:txBody>
                  <a:tcPr marL="76200" marR="76200" marT="76200" marB="76200">
                    <a:solidFill>
                      <a:srgbClr val="E8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67E78"/>
                          </a:solidFill>
                          <a:latin typeface="Arial"/>
                          <a:ea typeface="Arial"/>
                          <a:cs typeface="Arial"/>
                        </a:rPr>
                        <a:t>Valor</a:t>
                      </a:r>
                    </a:p>
                  </a:txBody>
                  <a:tcPr marL="76200" marR="76200" marT="76200" marB="76200">
                    <a:solidFill>
                      <a:srgbClr val="E8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B36"/>
                          </a:solidFill>
                          <a:latin typeface="Arial"/>
                          <a:ea typeface="Arial"/>
                          <a:cs typeface="Arial"/>
                        </a:rPr>
                        <a:t>Preparação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B36"/>
                          </a:solidFill>
                          <a:latin typeface="Arial"/>
                          <a:ea typeface="Arial"/>
                          <a:cs typeface="Arial"/>
                        </a:rPr>
                        <a:t>R$ 200,00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B36"/>
                          </a:solidFill>
                          <a:latin typeface="Arial"/>
                          <a:ea typeface="Arial"/>
                          <a:cs typeface="Arial"/>
                        </a:rPr>
                        <a:t>Pintura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2B36"/>
                          </a:solidFill>
                          <a:latin typeface="Arial"/>
                          <a:ea typeface="Arial"/>
                          <a:cs typeface="Arial"/>
                        </a:rPr>
                        <a:t>R$ 600,00</a:t>
                      </a: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tângulo 11">
            <a:extLst>
              <a:ext uri="{FF2B5EF4-FFF2-40B4-BE49-F238E27FC236}">
                <a16:creationId xmlns:a16="http://schemas.microsoft.com/office/drawing/2014/main" id="{AB5986B3-F786-47AB-A9C9-A44AEF4183F7}"/>
              </a:ext>
            </a:extLst>
          </p:cNvPr>
          <p:cNvSpPr>
            <a:spLocks noGrp="1"/>
          </p:cNvSpPr>
          <p:nvPr/>
        </p:nvSpPr>
        <p:spPr>
          <a:xfrm>
            <a:off x="6772275" y="4638675"/>
            <a:ext cx="4381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TOTAL       R$ 800,00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6F68C92-79E5-4EB8-A95C-1975598805C9}"/>
              </a:ext>
            </a:extLst>
          </p:cNvPr>
          <p:cNvSpPr>
            <a:spLocks noGrp="1"/>
          </p:cNvSpPr>
          <p:nvPr/>
        </p:nvSpPr>
        <p:spPr>
          <a:xfrm>
            <a:off x="6772275" y="5286375"/>
            <a:ext cx="4476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Prazo: 2 dias. Materiais por conta do cliente.</a:t>
            </a:r>
          </a:p>
          <a:p>
            <a:pPr>
              <a:defRPr sz="142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Pagamento: 50% no início e 50% na conclusão.</a:t>
            </a:r>
          </a:p>
        </p:txBody>
      </p:sp>
    </p:spTree>
    <p:extLst>
      <p:ext uri="{BB962C8B-B14F-4D97-AF65-F5344CB8AC3E}">
        <p14:creationId xmlns:p14="http://schemas.microsoft.com/office/powerpoint/2010/main" val="75099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B72AE8E-2A87-4899-917F-BDB0CE7838E5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2B36"/>
                </a:solidFill>
                <a:latin typeface="Arial"/>
                <a:ea typeface="Arial"/>
                <a:cs typeface="Arial"/>
              </a:rPr>
              <a:t>Nosso MVP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A44E604-04C0-460D-A0F5-95A60B7A5740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53340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550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A primeira</a:t>
            </a:r>
          </a:p>
          <a:p>
            <a:pPr>
              <a:defRPr sz="5550" b="1">
                <a:solidFill>
                  <a:srgbClr val="067E78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67E78"/>
                </a:solidFill>
                <a:latin typeface="Arial"/>
                <a:ea typeface="Arial"/>
                <a:cs typeface="Arial"/>
              </a:rPr>
              <a:t>versão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D15F13-DC6C-4579-824D-3141698E4605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5143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O essencial para testar</a:t>
            </a:r>
          </a:p>
          <a:p>
            <a:pPr>
              <a:defRPr sz="2325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a criação de orçamentos.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D35E3D4-6E6A-4FB3-9F59-466AF5744530}"/>
              </a:ext>
            </a:extLst>
          </p:cNvPr>
          <p:cNvSpPr>
            <a:spLocks noGrp="1"/>
          </p:cNvSpPr>
          <p:nvPr/>
        </p:nvSpPr>
        <p:spPr>
          <a:xfrm>
            <a:off x="6381750" y="1952625"/>
            <a:ext cx="5191125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01   Dados do profissional e cliente</a:t>
            </a:r>
          </a:p>
          <a:p>
            <a:endParaRPr sz="2100" b="0">
              <a:solidFill>
                <a:srgbClr val="112B36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02   Serviços, quantidades e preços</a:t>
            </a:r>
          </a:p>
          <a:p>
            <a:endParaRPr sz="2100" b="0">
              <a:solidFill>
                <a:srgbClr val="112B36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03   Total automático</a:t>
            </a:r>
          </a:p>
          <a:p>
            <a:endParaRPr sz="2100" b="0">
              <a:solidFill>
                <a:srgbClr val="112B36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04   Prazo e pagamento</a:t>
            </a:r>
          </a:p>
          <a:p>
            <a:endParaRPr sz="2100" b="0">
              <a:solidFill>
                <a:srgbClr val="112B36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1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2B36"/>
                </a:solidFill>
                <a:latin typeface="Arial"/>
                <a:ea typeface="Arial"/>
                <a:cs typeface="Arial"/>
              </a:rPr>
              <a:t>05   Download do PDF</a:t>
            </a:r>
          </a:p>
        </p:txBody>
      </p:sp>
    </p:spTree>
    <p:extLst>
      <p:ext uri="{BB962C8B-B14F-4D97-AF65-F5344CB8AC3E}">
        <p14:creationId xmlns:p14="http://schemas.microsoft.com/office/powerpoint/2010/main" val="13512466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466</Words>
  <Application>Microsoft Office PowerPoint</Application>
  <DocSecurity>0</DocSecurity>
  <PresentationFormat>Widescreen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 Bobato</cp:lastModifiedBy>
  <cp:revision>2</cp:revision>
  <dcterms:created xsi:type="dcterms:W3CDTF">2026-10-01T14:08:30Z</dcterms:created>
  <dcterms:modified xsi:type="dcterms:W3CDTF">2026-10-02T00:05:46Z</dcterms:modified>
</cp:coreProperties>
</file>